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0" r:id="rId10"/>
    <p:sldId id="263" r:id="rId11"/>
    <p:sldId id="275" r:id="rId12"/>
    <p:sldId id="272" r:id="rId13"/>
    <p:sldId id="264" r:id="rId14"/>
    <p:sldId id="276" r:id="rId15"/>
    <p:sldId id="265" r:id="rId16"/>
    <p:sldId id="273" r:id="rId17"/>
    <p:sldId id="266" r:id="rId18"/>
    <p:sldId id="267" r:id="rId19"/>
    <p:sldId id="268" r:id="rId20"/>
    <p:sldId id="26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2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E5-48A8-B9BA-6E3771790139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E5-48A8-B9BA-6E377179013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Training Set (75%)</c:v>
                </c:pt>
                <c:pt idx="1">
                  <c:v>Test Set (25%)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1650</c:v>
                </c:pt>
                <c:pt idx="1">
                  <c:v>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4E5-48A8-B9BA-6E37717901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F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57B9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D2-4138-AAB1-EF812C241477}"/>
              </c:ext>
            </c:extLst>
          </c:dPt>
          <c:dPt>
            <c:idx val="1"/>
            <c:invertIfNegative val="0"/>
            <c:bubble3D val="0"/>
            <c:spPr>
              <a:solidFill>
                <a:srgbClr val="7955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D2-4138-AAB1-EF812C241477}"/>
              </c:ext>
            </c:extLst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D2-4138-AAB1-EF812C24147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B1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KNN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97.82</c:v>
                </c:pt>
                <c:pt idx="1">
                  <c:v>98.91</c:v>
                </c:pt>
                <c:pt idx="2">
                  <c:v>99.64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D2-4138-AAB1-EF812C2414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.5"/>
          <c:min val="9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F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Top Feature Importance Scores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CF-4C61-B394-1F691CB4A81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9CF-4C61-B394-1F691CB4A81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9CF-4C61-B394-1F691CB4A810}"/>
              </c:ext>
            </c:extLst>
          </c:dPt>
          <c:dPt>
            <c:idx val="3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9CF-4C61-B394-1F691CB4A810}"/>
              </c:ext>
            </c:extLst>
          </c:dPt>
          <c:dPt>
            <c:idx val="4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9CF-4C61-B394-1F691CB4A810}"/>
              </c:ext>
            </c:extLst>
          </c:dPt>
          <c:dPt>
            <c:idx val="5"/>
            <c:invertIfNegative val="0"/>
            <c:bubble3D val="0"/>
            <c:spPr>
              <a:solidFill>
                <a:srgbClr val="B7E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9CF-4C61-B394-1F691CB4A810}"/>
              </c:ext>
            </c:extLst>
          </c:dPt>
          <c:dPt>
            <c:idx val="6"/>
            <c:invertIfNegative val="0"/>
            <c:bubble3D val="0"/>
            <c:spPr>
              <a:solidFill>
                <a:srgbClr val="B7E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9CF-4C61-B394-1F691CB4A810}"/>
              </c:ext>
            </c:extLst>
          </c:dPt>
          <c:dLbls>
            <c:delete val="1"/>
          </c:dLbls>
          <c:cat>
            <c:strRef>
              <c:f>Sheet1!$A$2:$A$8</c:f>
              <c:strCache>
                <c:ptCount val="7"/>
                <c:pt idx="0">
                  <c:v>Rainfall</c:v>
                </c:pt>
                <c:pt idx="1">
                  <c:v>Humidity</c:v>
                </c:pt>
                <c:pt idx="2">
                  <c:v>Temperature</c:v>
                </c:pt>
                <c:pt idx="3">
                  <c:v>pH</c:v>
                </c:pt>
                <c:pt idx="4">
                  <c:v>K (Potassium)</c:v>
                </c:pt>
                <c:pt idx="5">
                  <c:v>N (Nitrogen)</c:v>
                </c:pt>
                <c:pt idx="6">
                  <c:v>P (Phosphorus)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0.28000000000000003</c:v>
                </c:pt>
                <c:pt idx="1">
                  <c:v>0.24</c:v>
                </c:pt>
                <c:pt idx="2">
                  <c:v>0.22</c:v>
                </c:pt>
                <c:pt idx="3">
                  <c:v>0.12</c:v>
                </c:pt>
                <c:pt idx="4">
                  <c:v>7.0000000000000007E-2</c:v>
                </c:pt>
                <c:pt idx="5">
                  <c:v>0.04</c:v>
                </c:pt>
                <c:pt idx="6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9CF-4C61-B394-1F691CB4A8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F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89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This work was presented at NASSCOM and demonstrates how ML can empower farmers to make data-driven crop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farmer's dilemma. Crop selection is critical and depends on multiple soil and weather factors. Machine learning offers a data-driven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quickly. The presentation follows the exact structure of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key Python libraries used. Sklearn is the heart of the ML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has 2200 rows and 8 columns. 7 features describe the soil and climate conditions. The label column has 22 unique crops. There are no missing values — clean dataset ready for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clean and balanced. Each of the 22 crops has exactly 100 samples, which means our accuracy scores reflect real performance without class imbalance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split into X (features) and y (target). Then 75% goes to training and 25% to testing with a fixed random_state=0 for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concept slide: explain lazy learning, distance metric, and the role of K. This sets context before showing the actual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C2B1-3FE1-7ED5-5AFA-254C4536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5C6FBA-27F2-5949-520E-F159F60F5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4A79B-1D30-0160-5C27-9EFC6F408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with K=5 and Euclidean distance achieves 97.82% accuracy. The model is simple and intuitive but slightly slower at prediction time as it compares against all training points.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F43BC-4759-5A9E-9022-67A93E9170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50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with K=5 and Euclidean distance achieves 97.82% accuracy. The model is simple and intuitive but slightly slower at prediction time as it compares against all training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Tree concept: explain how nodes split data using Gini impurity. Highlight that full depth trees can overfit — Random Forest solves this via ensembling.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1869-1C47-DAE4-EDF2-FF31493E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05B7F-4B9D-5FE2-33C4-1C37F7B8C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F4804-A2E9-47CA-0A16-CFFA9EB8A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Tree improves to 98.91%. The tree is fully grown (no max_depth limit), which achieves higher accuracy but may slightly overfit compared to a pruned tree.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325F8-5619-6D78-BC96-8D8C04669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62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Tree improves to 98.91%. The tree is fully grown (no max_depth limit), which achieves higher accuracy but may slightly overfit compared to a pruned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concept: the two key innovations are Bagging (row sampling) and Feature Randomness (column sampling). Together these create diverse, low-correlation trees whose errors cancel out in the majority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achieves the best accuracy of 99.64%, with precision and recall of 1.00 (macro avg). Rainfall is the most important feature. The ensemble nature eliminates most errors from a single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4F90-8327-9DBB-4221-7E692A81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239E3-F231-BABA-708F-8FDD54A77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B7787-8C7E-F7E3-22C8-A7491EACE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achieves the best accuracy of 99.64%, with precision and recall of 1.00 (macro avg). Rainfall is the most important feature. The ensemble nature eliminates most errors from a single tree.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FC276-459F-9E61-A0D2-5613D3195A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794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models perform exceptionally well on this dataset. Random Forest is the best at 99.64%. Note that the y-axis starts at 96% to better visualize the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feature importance plot from Random Forest shows that climate features (rainfall, humidity, temperature) dominate over soil chemistry features. This is important insight for agricultural extension 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project: all 3 models work well, RF is the best. Climate features are most predictive. Future work can extend this to real-time IoT-based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your contact details and invite questions. Emphasize practical applications for Indian agriculture.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926080" cy="292608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743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051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Based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5720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KNN  |  Decision Tree  |  Random Forest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3154680"/>
            <a:ext cx="502920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78077" y="3374431"/>
            <a:ext cx="49525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Madhu Sudhan Reddy, Assistant Professor, CSBS, BVRIT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Jagadeesh, Assistant Professor, CSE, BVRIT</a:t>
            </a: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Bhaskar Rao, Assistant Professor, CSE, BVRIT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29768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Motivation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28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14300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685800" cy="685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234440"/>
            <a:ext cx="7178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Farmer's Challenge: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wants to seed a crop on his/her farmland. The very first step is to decide which crop is the best fit for the soil conditions — a decision that has traditionally relied on experience and guesswork.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365760" y="2377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8FFFE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65760" y="2423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🌡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475488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Soil Conditions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345643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 levels, pH, and moisture differ farm-to-farm and season-to-season.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18688" y="2377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8FFFE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218688" y="2423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🌧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328416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Variability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0128" y="345643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 and rainfall patterns are increasingly unpredictable.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71616" y="2377440"/>
            <a:ext cx="2697480" cy="2331720"/>
          </a:xfrm>
          <a:prstGeom prst="roundRect">
            <a:avLst>
              <a:gd name="adj" fmla="val 3922"/>
            </a:avLst>
          </a:prstGeom>
          <a:solidFill>
            <a:srgbClr val="F8FFFE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071616" y="24231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📉</a:t>
            </a:r>
            <a:endParaRPr lang="en-US" sz="3200" dirty="0"/>
          </a:p>
        </p:txBody>
      </p:sp>
      <p:sp>
        <p:nvSpPr>
          <p:cNvPr id="18" name="Text 14"/>
          <p:cNvSpPr/>
          <p:nvPr/>
        </p:nvSpPr>
        <p:spPr>
          <a:xfrm>
            <a:off x="6181344" y="3063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&amp; Financial Risk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163056" y="3456432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crop choice leads to crop failure, debt, and food insecurity for families.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61288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11064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399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tools: pandas, sklearn, seaborn, matplotlib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37944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47672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18928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185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 records, 7 features, 22 crop classes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24328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34056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2679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data types, missing values, unique crops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4128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37581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Feature/target split, 75/25 train-test split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197096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306824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" y="4251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4128" y="4544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 Minkowski metric — 97.82% accuracy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1051560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EEF8F0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1161288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161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58968" y="11064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58968" y="1399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criterion, depth-unlimited — 98.91% accuracy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1837944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EEF8F0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1947672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58968" y="18928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58968" y="2185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estimators, ensemble — 99.64% accuracy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624328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EEF8F0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2734056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58968" y="2679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58968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 across all three models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410712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EEF8F0"/>
          </a:solidFill>
          <a:ln w="635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92040" y="352044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58968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58968" y="37581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is best; future scope and deployment ideas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Import Libraries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D"/>
          </a:solidFill>
          <a:ln w="12700">
            <a:solidFill>
              <a:srgbClr val="457B9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914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1261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642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manipulation and DataFrame operations on the CSV dataset.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3E0"/>
          </a:solidFill>
          <a:ln w="12700">
            <a:solidFill>
              <a:srgbClr val="E9C46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234440"/>
            <a:ext cx="914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577840" y="1261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577840" y="16642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plots like confusion matrix heatmaps and decision tree visualizations.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3E5F5"/>
          </a:solidFill>
          <a:ln w="12700">
            <a:solidFill>
              <a:srgbClr val="9C27B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063240"/>
            <a:ext cx="914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34440" y="3090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4930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statistical plots — bar charts and heatmaps for model comparison.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063240"/>
            <a:ext cx="914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577840" y="3090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349300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library — KNN, DT, RF classifiers, train-test split, metrics.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819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5819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5819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Classes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0584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675120" y="15819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2150323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 (X)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686488"/>
              </p:ext>
            </p:extLst>
          </p:nvPr>
        </p:nvGraphicFramePr>
        <p:xfrm>
          <a:off x="359861" y="2487174"/>
          <a:ext cx="4114800" cy="2499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Nitrogen ratio in soil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mg/kg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Phosphorous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mg/kg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Potassium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mg/kg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/ air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pH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rainfall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754880" y="2286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Target Crop Classes (y)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54880" y="2670048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D8F3DC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2743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Rice, Maize, Chickpea, Kidneybeans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92040" y="30723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Pigeonpeas, Mothbeans, Mungbean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92040" y="34015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Blackgram, Lentil, Pomegranate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92040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Banana, Mango, Grapes, Watermelon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92040" y="40599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Muskmelon, Apple, Orange, Papaya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4389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Coconut, Cotton, Jute, Coffee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Exploratory Data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(df.describe)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089611"/>
              </p:ext>
            </p:extLst>
          </p:nvPr>
        </p:nvGraphicFramePr>
        <p:xfrm>
          <a:off x="365760" y="1389888"/>
          <a:ext cx="5029200" cy="34747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(Nitrogen)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(Phosphorus)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(Potassium)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25.6°C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103.5mm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2000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10058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400" dirty="0"/>
          </a:p>
        </p:txBody>
      </p:sp>
      <p:sp>
        <p:nvSpPr>
          <p:cNvPr id="5" name="Shape 4"/>
          <p:cNvSpPr/>
          <p:nvPr/>
        </p:nvSpPr>
        <p:spPr>
          <a:xfrm>
            <a:off x="5577840" y="1389888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96128" y="141732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53328" y="14173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53328" y="16550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2200 rows are complete — no imputation needed.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2084832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EF8F0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96128" y="2112264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53328" y="21122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53328" y="235000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 are int64; temperature, humidity, pH, rainfall are float64.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2779776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96128" y="2807208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🌾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53328" y="280720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balanced classes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53328" y="30449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crop has exactly 100 samples (2200 ÷ 22).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3474720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EEF8F0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96128" y="3502152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053328" y="350215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53328" y="37398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imbalance — fair evaluation for all models.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577840" y="4169664"/>
            <a:ext cx="3291840" cy="621792"/>
          </a:xfrm>
          <a:prstGeom prst="roundRect">
            <a:avLst>
              <a:gd name="adj" fmla="val 11765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96128" y="4197096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🌡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053328" y="419709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pH range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53328" y="4434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ranges from 3.5 (acidic) to 9.9 (alkaline).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Data Preparation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Feature &amp; Target Split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(Features)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dataset.iloc[ : , :-1 ]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columns except label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K, temperature,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humidity, pH, rainfall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5361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(Target)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dataset.iloc[ : , -1 ].values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column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crop class labels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(string array)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971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Train / Test Split  (test_size = 0.25)</a:t>
            </a:r>
            <a:endParaRPr lang="en-US" sz="14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365760" y="3337560"/>
          <a:ext cx="502920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5623560" y="3364992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33741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06640" y="33741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623560" y="3712464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samples: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06640" y="3721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623560" y="4059936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state: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06640" y="4069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(reproducible)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— Core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KNN?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a non-parametric, lazy learning algorithm. It makes no assumptions about the data distribution and stores all training instances.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"Similar inputs produce similar outputs." A new point is classified by majority vote of its K closest neighbours.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493008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EBF5FB"/>
          </a:solidFill>
          <a:ln w="10160">
            <a:solidFill>
              <a:srgbClr val="A8DA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Supervised, Instance-based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Classification &amp; Regression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None (lazy learner)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56432" y="1572768"/>
            <a:ext cx="402336" cy="402336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13632" y="15910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training data in 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48456" y="1975104"/>
            <a:ext cx="0" cy="402336"/>
          </a:xfrm>
          <a:prstGeom prst="line">
            <a:avLst/>
          </a:prstGeom>
          <a:noFill/>
          <a:ln w="19050">
            <a:solidFill>
              <a:srgbClr val="A8DA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56432" y="2377440"/>
            <a:ext cx="402336" cy="402336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13632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 to every training point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48456" y="2779776"/>
            <a:ext cx="0" cy="402336"/>
          </a:xfrm>
          <a:prstGeom prst="line">
            <a:avLst/>
          </a:prstGeom>
          <a:noFill/>
          <a:ln w="19050">
            <a:solidFill>
              <a:srgbClr val="A8DA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56432" y="3182112"/>
            <a:ext cx="402336" cy="402336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13632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pick the K=5 nearest neighbours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48456" y="3584448"/>
            <a:ext cx="0" cy="402336"/>
          </a:xfrm>
          <a:prstGeom prst="line">
            <a:avLst/>
          </a:prstGeom>
          <a:noFill/>
          <a:ln w="19050">
            <a:solidFill>
              <a:srgbClr val="A8DA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6432" y="3986784"/>
            <a:ext cx="402336" cy="402336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40050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determines the predicted class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29000" y="3858768"/>
            <a:ext cx="2560320" cy="749808"/>
          </a:xfrm>
          <a:prstGeom prst="roundRect">
            <a:avLst>
              <a:gd name="adj" fmla="val 9756"/>
            </a:avLst>
          </a:prstGeom>
          <a:solidFill>
            <a:srgbClr val="EBF5FB"/>
          </a:solidFill>
          <a:ln w="10160">
            <a:solidFill>
              <a:srgbClr val="A8DA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913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 Euclidean (Minkowski p=2)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66160" y="41696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sqrt( sum( (xi - yi)^2 ) 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994042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457B9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training phase needed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Multi-class by default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parametric assumptions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 prediction O(n)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493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Sensitive to feature scale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High memory usage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425196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2793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K=5: odd value avoids ties; balances bias-variance tradeoff.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9376-D66B-7CE2-418B-68389A5E7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2C8700-93F9-D02C-AD32-2960D09F4DE8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B559B8-EC02-B29C-7145-E5BFC00235D1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K-Nearest Neighbors (KNN)</a:t>
            </a:r>
            <a:endParaRPr lang="en-US" sz="2600" dirty="0"/>
          </a:p>
        </p:txBody>
      </p:sp>
      <p:pic>
        <p:nvPicPr>
          <p:cNvPr id="35" name="Picture 34" descr="KNN Machine Learning Algorithm: A Beginner's Guide">
            <a:extLst>
              <a:ext uri="{FF2B5EF4-FFF2-40B4-BE49-F238E27FC236}">
                <a16:creationId xmlns:a16="http://schemas.microsoft.com/office/drawing/2014/main" id="{822F25E4-6A41-EBA3-0AEF-AA9D41B4BD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44" t="9961" r="3780" b="15359"/>
          <a:stretch>
            <a:fillRect/>
          </a:stretch>
        </p:blipFill>
        <p:spPr>
          <a:xfrm>
            <a:off x="667657" y="1233714"/>
            <a:ext cx="8019202" cy="374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1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K-Nearest Neighbors (KNN)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KNN 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F4FD"/>
          </a:solidFill>
          <a:ln w="10160">
            <a:solidFill>
              <a:srgbClr val="A8DA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Given soil parameters, find K=5 nearest training samples using distance.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A8DA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7568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Count the majority crop label among those 5 neighbours.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E8F4FD"/>
          </a:solidFill>
          <a:ln w="10160">
            <a:solidFill>
              <a:srgbClr val="A8DA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1576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Predict that crop for the new soil data point.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31012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A8DA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5584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Distance metric: Minkowski (p=2 = Euclidean distance)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005072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4164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KNeighborsClassifier(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n_neighbors=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metric=</a:t>
            </a:r>
            <a:r>
              <a:rPr lang="en-US" sz="10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'minkowski'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p=</a:t>
            </a: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Results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1389888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417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97.82%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72000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435608"/>
            <a:ext cx="1737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0.98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   0.98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   0.98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3605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2596896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596896"/>
            <a:ext cx="2236165" cy="201168"/>
          </a:xfrm>
          <a:prstGeom prst="roundRect">
            <a:avLst>
              <a:gd name="adj" fmla="val 22727"/>
            </a:avLst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3605" y="298533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85205" y="3031309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5205" y="3026664"/>
            <a:ext cx="2240280" cy="201168"/>
          </a:xfrm>
          <a:prstGeom prst="roundRect">
            <a:avLst>
              <a:gd name="adj" fmla="val 22727"/>
            </a:avLst>
          </a:prstGeom>
          <a:solidFill>
            <a:srgbClr val="A8DADC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296323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33685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08065" y="3422070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08065" y="3405124"/>
            <a:ext cx="2240280" cy="201168"/>
          </a:xfrm>
          <a:prstGeom prst="roundRect">
            <a:avLst>
              <a:gd name="adj" fmla="val 22727"/>
            </a:avLst>
          </a:prstGeom>
          <a:solidFill>
            <a:srgbClr val="5BA3C4"/>
          </a:solidFill>
          <a:ln w="12700">
            <a:solidFill>
              <a:srgbClr val="5BA3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8530" y="333821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773933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EF9E7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794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Confusion Matrix Insight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41148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off-diagonal entries are zero. A few crop pairs (e.g., mothbeans/mungbean) show 1–2 misclassifications due to similar NPK profiles.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4033"/>
          </a:solidFill>
          <a:ln w="12700">
            <a:solidFill>
              <a:srgbClr val="5C4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Core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A1887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Decision Tree?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is a flowchart-like structure that splits data into subsets based on feature values, creating a tree of decisions that leads to a predicted class.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tests one feature; each branch represents an outcome; each leaf holds a class label.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493008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BE9E7"/>
          </a:solidFill>
          <a:ln w="10160">
            <a:solidFill>
              <a:srgbClr val="BCAA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Supervised, Non-Parametric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Gini Impurity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Depth: Unlimited (default)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A1887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150876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FBE9E7"/>
          </a:solidFill>
          <a:ln w="6350">
            <a:solidFill>
              <a:srgbClr val="E5D5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5544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1801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topmost split — uses the most discriminating feature (highest information gain).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233172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5D5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23774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47872" y="2624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 feature condition (e.g., rainfall &gt; 200mm).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315468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FBE9E7"/>
          </a:solidFill>
          <a:ln w="6350">
            <a:solidFill>
              <a:srgbClr val="E5D5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3200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47872" y="34472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node; holds the final predicted class label.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3977640"/>
            <a:ext cx="2560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5D5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47872" y="4270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disorder: Gini = 1 - sum(pᵢ²). Lower Gini = purer node.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00584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A1887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Highly interpretable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Handles non-linear boundaries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feature scaling needed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Prone to overfitting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493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High variance (unstable)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Biased with imbalanced data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4160520"/>
            <a:ext cx="2423160" cy="621792"/>
          </a:xfrm>
          <a:prstGeom prst="roundRect">
            <a:avLst>
              <a:gd name="adj" fmla="val 11765"/>
            </a:avLst>
          </a:prstGeom>
          <a:solidFill>
            <a:srgbClr val="FBE9E7"/>
          </a:solidFill>
          <a:ln w="10160">
            <a:solidFill>
              <a:srgbClr val="BCAAA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2062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fix: set max_depth, min_samples_split, or use pruning.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6E8DA-0EA8-B1F2-4C48-6B1728DA3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52DB9A-DC7D-6AE8-8044-A59C6BACA0B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4033"/>
          </a:solidFill>
          <a:ln w="12700">
            <a:solidFill>
              <a:srgbClr val="5C4033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AF5933-FAFA-4C87-DFC3-DF75D4DE0B83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Decision Tree (DT)</a:t>
            </a:r>
            <a:endParaRPr lang="en-US" sz="2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8431F57-2988-80BA-6186-03551F3D6E08}"/>
              </a:ext>
            </a:extLst>
          </p:cNvPr>
          <p:cNvSpPr/>
          <p:nvPr/>
        </p:nvSpPr>
        <p:spPr>
          <a:xfrm>
            <a:off x="595086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Results</a:t>
            </a:r>
            <a:endParaRPr lang="en-US" sz="1400" dirty="0"/>
          </a:p>
        </p:txBody>
      </p:sp>
      <p:pic>
        <p:nvPicPr>
          <p:cNvPr id="36" name="Picture 35" descr="Decision tree diagrams: what they are and how to use them ...">
            <a:extLst>
              <a:ext uri="{FF2B5EF4-FFF2-40B4-BE49-F238E27FC236}">
                <a16:creationId xmlns:a16="http://schemas.microsoft.com/office/drawing/2014/main" id="{15A173BF-36D0-6D51-72DA-406910213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14" y="1197019"/>
            <a:ext cx="6858000" cy="38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00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C4033"/>
          </a:solidFill>
          <a:ln w="12700">
            <a:solidFill>
              <a:srgbClr val="5C40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6: Decision Tree (DT)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Decision Tree Works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BE9E7"/>
          </a:solidFill>
          <a:ln w="10160">
            <a:solidFill>
              <a:srgbClr val="BCAA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Starts at the root: selects the best feature to split by (using Gini impurity).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CAA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7568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Recursively creates branches — each split narrows down crop possibilities.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67004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BE9E7"/>
          </a:solidFill>
          <a:ln w="10160">
            <a:solidFill>
              <a:srgbClr val="BCAA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1576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At leaf nodes, assigns the majority crop label for that branch.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31012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BCAA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5584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Unlimited depth allowed (random_state=0 for reproducibility).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005072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4164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DecisionTreeClassifier(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clf.fit(X_train, y_train)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Results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1389888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5C4033"/>
          </a:solidFill>
          <a:ln w="12700">
            <a:solidFill>
              <a:srgbClr val="5C403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1417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98.91%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572000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435608"/>
            <a:ext cx="1737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0.99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   0.99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   0.99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2596896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596896"/>
            <a:ext cx="2261083" cy="201168"/>
          </a:xfrm>
          <a:prstGeom prst="roundRect">
            <a:avLst>
              <a:gd name="adj" fmla="val 22727"/>
            </a:avLst>
          </a:prstGeom>
          <a:solidFill>
            <a:srgbClr val="795548"/>
          </a:solidFill>
          <a:ln w="12700">
            <a:solidFill>
              <a:srgbClr val="795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2988201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76861" y="3008376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78554" y="2994660"/>
            <a:ext cx="2263140" cy="201168"/>
          </a:xfrm>
          <a:prstGeom prst="roundRect">
            <a:avLst>
              <a:gd name="adj" fmla="val 22727"/>
            </a:avLst>
          </a:prstGeom>
          <a:solidFill>
            <a:srgbClr val="A1887F"/>
          </a:solidFill>
          <a:ln w="12700">
            <a:solidFill>
              <a:srgbClr val="A188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6122" y="2956995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39503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99721" y="3425952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99721" y="3434225"/>
            <a:ext cx="2263140" cy="201168"/>
          </a:xfrm>
          <a:prstGeom prst="roundRect">
            <a:avLst>
              <a:gd name="adj" fmla="val 22727"/>
            </a:avLst>
          </a:prstGeom>
          <a:solidFill>
            <a:srgbClr val="BCAAA4"/>
          </a:solidFill>
          <a:ln w="12700">
            <a:solidFill>
              <a:srgbClr val="BCAA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1842" y="340127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3808476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BE9E7"/>
          </a:solidFill>
          <a:ln w="12700">
            <a:solidFill>
              <a:srgbClr val="BCAA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794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4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Tree Visualization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09160" y="41148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was visualized using sklearn's plot_tree (40×15 inches). The tree shows feature splits at each node — key splits use rainfall and temperature.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Core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Random Forest?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2560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an ensemble learning method that builds many Decision Trees on random subsets of data and features, then combines their predictions via majority voting.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overfitting and variance by averaging out errors across all trees.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493008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D8F3DC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Supervised, Ensemble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100 trees (default)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4114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Sampling: Bootstrap (with replacement)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834640" cy="38404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Techniques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15087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D8F3DC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(Bootstrap Aggregating)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865376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trains on a random sample drawn WITH replacement from the training data. Reduces variance without increasing bias.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29000" y="30175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EEF8F0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0815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Randomness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374136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only a random subset of sqrt(n_features) features is considered. Creates diverse, decorrelated trees — the key to the ensemble advantage.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005840"/>
            <a:ext cx="25603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Robust to overfitting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Handles noisy data well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Built-in feature importance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163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Slower than single tree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493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Less interpretable (black box)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Higher memory usage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91072" y="4160520"/>
            <a:ext cx="2423160" cy="621792"/>
          </a:xfrm>
          <a:prstGeom prst="roundRect">
            <a:avLst>
              <a:gd name="adj" fmla="val 11765"/>
            </a:avLst>
          </a:prstGeom>
          <a:solidFill>
            <a:srgbClr val="D8F3DC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4206240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Prediction: majority vote across all 100 trees eliminates individual tree errors.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Random Forest (RF)</a:t>
            </a:r>
            <a:endParaRPr lang="en-US" sz="26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8FC8A3D-07CB-4260-F14B-8CD4469E5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86" y="1036863"/>
            <a:ext cx="7970158" cy="39850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E0291-6955-813B-C199-EDD975F0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3BCBEAC-AA5D-F72F-7619-87B56480496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3B364C-CDD6-91BB-F393-4030A1A8EB2B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7: Random Forest (RF)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53800E-7206-6D2D-432E-1C3A3351C48F}"/>
              </a:ext>
            </a:extLst>
          </p:cNvPr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Random Forest Works?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9CA4C01-3409-3C5C-581C-1A138DB21367}"/>
              </a:ext>
            </a:extLst>
          </p:cNvPr>
          <p:cNvSpPr/>
          <p:nvPr/>
        </p:nvSpPr>
        <p:spPr>
          <a:xfrm>
            <a:off x="365760" y="138988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D8F3DC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EA28B9-67E5-DEC6-4D54-FEC574DD4DBE}"/>
              </a:ext>
            </a:extLst>
          </p:cNvPr>
          <p:cNvSpPr/>
          <p:nvPr/>
        </p:nvSpPr>
        <p:spPr>
          <a:xfrm>
            <a:off x="502920" y="143560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Builds 100 decision trees on random subsets of training data (bootstrap sampling).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CB68115-2676-C1A3-2439-8CB264445331}"/>
              </a:ext>
            </a:extLst>
          </p:cNvPr>
          <p:cNvSpPr/>
          <p:nvPr/>
        </p:nvSpPr>
        <p:spPr>
          <a:xfrm>
            <a:off x="365760" y="202996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9DFE380-BE1D-30D5-9DFA-DF6CD44A9098}"/>
              </a:ext>
            </a:extLst>
          </p:cNvPr>
          <p:cNvSpPr/>
          <p:nvPr/>
        </p:nvSpPr>
        <p:spPr>
          <a:xfrm>
            <a:off x="502920" y="207568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Each tree considers a random subset of features at each split.</a:t>
            </a:r>
            <a:endParaRPr lang="en-US" sz="11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94DE0F4-7048-ACEB-A289-EC944984116D}"/>
              </a:ext>
            </a:extLst>
          </p:cNvPr>
          <p:cNvSpPr/>
          <p:nvPr/>
        </p:nvSpPr>
        <p:spPr>
          <a:xfrm>
            <a:off x="365760" y="267004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D8F3DC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E169D5A-0DC0-6193-B4DF-5DDA154AD9A7}"/>
              </a:ext>
            </a:extLst>
          </p:cNvPr>
          <p:cNvSpPr/>
          <p:nvPr/>
        </p:nvSpPr>
        <p:spPr>
          <a:xfrm>
            <a:off x="502920" y="271576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Final prediction = majority vote among all 100 trees (ensemble).</a:t>
            </a:r>
            <a:endParaRPr lang="en-US" sz="11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B701C1-3CBC-EED2-8CDB-21662B7584F9}"/>
              </a:ext>
            </a:extLst>
          </p:cNvPr>
          <p:cNvSpPr/>
          <p:nvPr/>
        </p:nvSpPr>
        <p:spPr>
          <a:xfrm>
            <a:off x="365760" y="331012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52B78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CF4336B-5F9B-6FA7-513C-1496F94802BA}"/>
              </a:ext>
            </a:extLst>
          </p:cNvPr>
          <p:cNvSpPr/>
          <p:nvPr/>
        </p:nvSpPr>
        <p:spPr>
          <a:xfrm>
            <a:off x="502920" y="3355848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Reduces overfitting compared to a single Decision Tree.</a:t>
            </a:r>
            <a:endParaRPr lang="en-US" sz="11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FA085F0-2EE8-A93C-3537-B8F5FBBA2383}"/>
              </a:ext>
            </a:extLst>
          </p:cNvPr>
          <p:cNvSpPr/>
          <p:nvPr/>
        </p:nvSpPr>
        <p:spPr>
          <a:xfrm>
            <a:off x="365760" y="4005072"/>
            <a:ext cx="39319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35DCA6B-4124-5852-11DF-710776E73F69}"/>
              </a:ext>
            </a:extLst>
          </p:cNvPr>
          <p:cNvSpPr/>
          <p:nvPr/>
        </p:nvSpPr>
        <p:spPr>
          <a:xfrm>
            <a:off x="502920" y="4041648"/>
            <a:ext cx="3657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RandomForestClassifier()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rfc.fit(X_train, y_train)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rfc.predict(X_test)</a:t>
            </a:r>
            <a:endParaRPr lang="en-US" sz="10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EBEAAAD-5528-F187-386C-02E6C628283B}"/>
              </a:ext>
            </a:extLst>
          </p:cNvPr>
          <p:cNvSpPr/>
          <p:nvPr/>
        </p:nvSpPr>
        <p:spPr>
          <a:xfrm>
            <a:off x="4572000" y="10058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Results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C5E24BE-9846-8D01-C81F-36479154DCE0}"/>
              </a:ext>
            </a:extLst>
          </p:cNvPr>
          <p:cNvSpPr/>
          <p:nvPr/>
        </p:nvSpPr>
        <p:spPr>
          <a:xfrm>
            <a:off x="4572000" y="1389888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B554C26-BC92-006D-1CF2-50A7EC71E185}"/>
              </a:ext>
            </a:extLst>
          </p:cNvPr>
          <p:cNvSpPr/>
          <p:nvPr/>
        </p:nvSpPr>
        <p:spPr>
          <a:xfrm>
            <a:off x="4572000" y="14173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99.64%</a:t>
            </a:r>
            <a:endParaRPr lang="en-US" sz="4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4F0994B-057A-5D1B-CEEA-B4393BC81B02}"/>
              </a:ext>
            </a:extLst>
          </p:cNvPr>
          <p:cNvSpPr/>
          <p:nvPr/>
        </p:nvSpPr>
        <p:spPr>
          <a:xfrm>
            <a:off x="4572000" y="20299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BDFFEAE-2A49-1F50-E094-D1DB8356A9C7}"/>
              </a:ext>
            </a:extLst>
          </p:cNvPr>
          <p:cNvSpPr/>
          <p:nvPr/>
        </p:nvSpPr>
        <p:spPr>
          <a:xfrm>
            <a:off x="6903720" y="1435608"/>
            <a:ext cx="1737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1.00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      1.00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   1.00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616CB2A-121C-F328-572A-2F7A5E5F7E72}"/>
              </a:ext>
            </a:extLst>
          </p:cNvPr>
          <p:cNvSpPr/>
          <p:nvPr/>
        </p:nvSpPr>
        <p:spPr>
          <a:xfrm>
            <a:off x="4709160" y="2553499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B3E3BD0-319C-C862-C9B3-69DCBAEE6CD0}"/>
              </a:ext>
            </a:extLst>
          </p:cNvPr>
          <p:cNvSpPr/>
          <p:nvPr/>
        </p:nvSpPr>
        <p:spPr>
          <a:xfrm>
            <a:off x="5989320" y="2596896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952BE66-7C0B-A30B-747C-E4DC2034819D}"/>
              </a:ext>
            </a:extLst>
          </p:cNvPr>
          <p:cNvSpPr/>
          <p:nvPr/>
        </p:nvSpPr>
        <p:spPr>
          <a:xfrm>
            <a:off x="5989320" y="2596896"/>
            <a:ext cx="2277770" cy="201168"/>
          </a:xfrm>
          <a:prstGeom prst="roundRect">
            <a:avLst>
              <a:gd name="adj" fmla="val 2272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4E5706C-E06A-DF16-1302-91CF062047F5}"/>
              </a:ext>
            </a:extLst>
          </p:cNvPr>
          <p:cNvSpPr/>
          <p:nvPr/>
        </p:nvSpPr>
        <p:spPr>
          <a:xfrm>
            <a:off x="8321040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4CA4148-C1C3-BB75-C8C5-B3FD286F6D42}"/>
              </a:ext>
            </a:extLst>
          </p:cNvPr>
          <p:cNvSpPr/>
          <p:nvPr/>
        </p:nvSpPr>
        <p:spPr>
          <a:xfrm>
            <a:off x="4709160" y="295583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C51BE3D-EFFF-AFB1-1919-9F51C950A6A5}"/>
              </a:ext>
            </a:extLst>
          </p:cNvPr>
          <p:cNvSpPr/>
          <p:nvPr/>
        </p:nvSpPr>
        <p:spPr>
          <a:xfrm>
            <a:off x="5989320" y="3002135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1313FFD-CE4E-9C9D-350E-AFAA4EFAF9CF}"/>
              </a:ext>
            </a:extLst>
          </p:cNvPr>
          <p:cNvSpPr/>
          <p:nvPr/>
        </p:nvSpPr>
        <p:spPr>
          <a:xfrm>
            <a:off x="8352477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B16ACA1-321F-010B-FF72-DE6B8F5945D4}"/>
              </a:ext>
            </a:extLst>
          </p:cNvPr>
          <p:cNvSpPr/>
          <p:nvPr/>
        </p:nvSpPr>
        <p:spPr>
          <a:xfrm>
            <a:off x="4709160" y="339474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93704A6-C6CE-C8FE-D120-528571FD6390}"/>
              </a:ext>
            </a:extLst>
          </p:cNvPr>
          <p:cNvSpPr/>
          <p:nvPr/>
        </p:nvSpPr>
        <p:spPr>
          <a:xfrm>
            <a:off x="5989320" y="3409769"/>
            <a:ext cx="2286000" cy="201168"/>
          </a:xfrm>
          <a:prstGeom prst="roundRect">
            <a:avLst>
              <a:gd name="adj" fmla="val 22727"/>
            </a:avLst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81B3E8C-D008-9EBC-2EB8-8BFFFAE6DF9E}"/>
              </a:ext>
            </a:extLst>
          </p:cNvPr>
          <p:cNvSpPr/>
          <p:nvPr/>
        </p:nvSpPr>
        <p:spPr>
          <a:xfrm>
            <a:off x="8378603" y="34061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C63791E-DE6F-288F-9D5F-6D8A8D6ED5CB}"/>
              </a:ext>
            </a:extLst>
          </p:cNvPr>
          <p:cNvSpPr/>
          <p:nvPr/>
        </p:nvSpPr>
        <p:spPr>
          <a:xfrm>
            <a:off x="4536919" y="3848681"/>
            <a:ext cx="3749040" cy="1005840"/>
          </a:xfrm>
          <a:prstGeom prst="roundRect">
            <a:avLst>
              <a:gd name="adj" fmla="val 9091"/>
            </a:avLst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CE2F478-3BC3-2123-46B2-9DFF5D5BD5D3}"/>
              </a:ext>
            </a:extLst>
          </p:cNvPr>
          <p:cNvSpPr/>
          <p:nvPr/>
        </p:nvSpPr>
        <p:spPr>
          <a:xfrm>
            <a:off x="4709160" y="3794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Feature Importance (Top 3)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B9F7424-1C6C-68D0-11DA-2647713C1476}"/>
              </a:ext>
            </a:extLst>
          </p:cNvPr>
          <p:cNvSpPr/>
          <p:nvPr/>
        </p:nvSpPr>
        <p:spPr>
          <a:xfrm>
            <a:off x="4721003" y="4107833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Rainfall — highest discriminative power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Humidity — separates tropical from dry crops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Temperature — key for fruit vs grain crops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18456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8: Model Comparison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4937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960120"/>
          <a:ext cx="3474720" cy="1828800"/>
        </p:xfrm>
        <a:graphic>
          <a:graphicData uri="http://schemas.openxmlformats.org/drawingml/2006/table">
            <a:tbl>
              <a:tblPr/>
              <a:tblGrid>
                <a:gridCol w="694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57B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7955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394960" y="292608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017520"/>
            <a:ext cx="54864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7220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Random Forest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5577840" y="3456432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99.64% accuracy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precision &amp; recall (1.00)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generalization from ensemble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65760" y="3840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Improvement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65760" y="41330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→ DT: +1.09%    |    DT → RF: +0.73%    |    KNN → RF: +1.82%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(Random Forest)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9788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97880" y="1389888"/>
            <a:ext cx="2926080" cy="676656"/>
          </a:xfrm>
          <a:prstGeom prst="roundRect">
            <a:avLst>
              <a:gd name="adj" fmla="val 10811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16752" y="14264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(28%)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16752" y="16642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Differentiates water-hungry crops (rice, banana) from drought-tolerant ones (cotton, maize).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97880" y="2139696"/>
            <a:ext cx="29260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16752" y="21762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(24%)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16752" y="2414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tropical crops from those suited to dry climates.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97880" y="2889504"/>
            <a:ext cx="2926080" cy="676656"/>
          </a:xfrm>
          <a:prstGeom prst="roundRect">
            <a:avLst>
              <a:gd name="adj" fmla="val 10811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16752" y="2926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(22%)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16752" y="3163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fruits (apple: cold) vs tropical crops (coconut, mango: warm).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97880" y="3639312"/>
            <a:ext cx="29260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16752" y="36758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(12%)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16752" y="39136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acid-loving crops (coffee, blueberry) from alkaline-tolerant ones.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97880" y="4389120"/>
            <a:ext cx="2926080" cy="676656"/>
          </a:xfrm>
          <a:prstGeom prst="roundRect">
            <a:avLst>
              <a:gd name="adj" fmla="val 10811"/>
            </a:avLst>
          </a:prstGeom>
          <a:solidFill>
            <a:srgbClr val="D8F3DC"/>
          </a:solidFill>
          <a:ln w="6350">
            <a:solidFill>
              <a:srgbClr val="52B7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16752" y="44256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(14%)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16752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nutrients matter less than climate — they can be corrected with fertilizers.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9: Summary &amp;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D8F3DC"/>
          </a:solidFill>
          <a:ln w="1016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371600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Balanced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4721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 records, 22 crops, 7 features, zero missing values — ideal for ML benchmarking.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EEF8F0"/>
          </a:solidFill>
          <a:ln w="1016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606040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2359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Perform Strongly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270662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(97.82%), DT (98.91%), RF (99.64%) — all far above random baseline of 4.5%.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D8F3DC"/>
          </a:solidFill>
          <a:ln w="1016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18888" y="1371600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67528" y="112471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Best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67528" y="147218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 reduces variance. Macro-avg precision &amp; recall = 1.00 — near-perfect.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069080" cy="1097280"/>
          </a:xfrm>
          <a:prstGeom prst="roundRect">
            <a:avLst>
              <a:gd name="adj" fmla="val 8333"/>
            </a:avLst>
          </a:prstGeom>
          <a:solidFill>
            <a:srgbClr val="EEF8F0"/>
          </a:solidFill>
          <a:ln w="10160">
            <a:solidFill>
              <a:srgbClr val="52B7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2606040"/>
            <a:ext cx="438912" cy="438912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67528" y="23591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Drives Crop Choice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67528" y="270662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humidity &amp; temperature together account for 74% of the feature importance.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8412480" cy="1207008"/>
          </a:xfrm>
          <a:prstGeom prst="roundRect">
            <a:avLst>
              <a:gd name="adj" fmla="val 909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3977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 as mobile app for farmers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4233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Integrate real-time soil sensor 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4360" y="44897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SVM, XGBoost, Neural Network comparison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00600" y="3977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Extend to Telangana-specific crop varieties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233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Combine with weather API for live recommendations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2D6A4F">
              <a:alpha val="50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52B788">
              <a:alpha val="3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7708" y="1650492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48056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2631</Words>
  <Application>Microsoft Office PowerPoint</Application>
  <PresentationFormat>On-screen Show (16:9)</PresentationFormat>
  <Paragraphs>434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ML-Based Crop Recommendation</dc:title>
  <dc:subject>PptxGenJS Presentation</dc:subject>
  <dc:creator>D. Madhu Sudhan Reddy</dc:creator>
  <cp:lastModifiedBy>Jagadeesh Dandu</cp:lastModifiedBy>
  <cp:revision>23</cp:revision>
  <dcterms:created xsi:type="dcterms:W3CDTF">2026-06-22T10:08:19Z</dcterms:created>
  <dcterms:modified xsi:type="dcterms:W3CDTF">2026-06-23T10:17:06Z</dcterms:modified>
</cp:coreProperties>
</file>